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9029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3474720" y="0"/>
            <a:ext cx="365760" cy="5143500"/>
          </a:xfrm>
          <a:prstGeom prst="rect">
            <a:avLst/>
          </a:prstGeom>
          <a:solidFill>
            <a:srgbClr val="5B21B6">
              <a:alpha val="6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274320" y="274320"/>
            <a:ext cx="201168" cy="201168"/>
          </a:xfrm>
          <a:prstGeom prst="ellipse">
            <a:avLst/>
          </a:prstGeom>
          <a:solidFill>
            <a:srgbClr val="A855F7">
              <a:alpha val="6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201168" cy="201168"/>
          </a:xfrm>
          <a:prstGeom prst="ellipse">
            <a:avLst/>
          </a:prstGeom>
          <a:solidFill>
            <a:srgbClr val="C4B5FD">
              <a:alpha val="6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108960" y="4663440"/>
            <a:ext cx="201168" cy="201168"/>
          </a:xfrm>
          <a:prstGeom prst="ellipse">
            <a:avLst/>
          </a:prstGeom>
          <a:solidFill>
            <a:srgbClr val="A855F7">
              <a:alpha val="6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743200" y="182880"/>
            <a:ext cx="201168" cy="201168"/>
          </a:xfrm>
          <a:prstGeom prst="ellipse">
            <a:avLst/>
          </a:prstGeom>
          <a:solidFill>
            <a:srgbClr val="7C3AED">
              <a:alpha val="6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457200" y="4572000"/>
            <a:ext cx="201168" cy="201168"/>
          </a:xfrm>
          <a:prstGeom prst="ellipse">
            <a:avLst/>
          </a:prstGeom>
          <a:solidFill>
            <a:srgbClr val="6D28D9">
              <a:alpha val="6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640080" y="594360"/>
            <a:ext cx="2194560" cy="2194560"/>
          </a:xfrm>
          <a:prstGeom prst="roundRect">
            <a:avLst>
              <a:gd name="adj" fmla="val 11667"/>
            </a:avLst>
          </a:prstGeom>
          <a:solidFill>
            <a:srgbClr val="6D28D9"/>
          </a:solidFill>
          <a:ln/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640080" y="59436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0" dirty="0">
                <a:solidFill>
                  <a:srgbClr val="000000"/>
                </a:solidFill>
              </a:rPr>
              <a:t>🛒</a:t>
            </a:r>
            <a:endParaRPr lang="en-US" sz="6800" dirty="0"/>
          </a:p>
        </p:txBody>
      </p:sp>
      <p:sp>
        <p:nvSpPr>
          <p:cNvPr id="11" name="Text 9"/>
          <p:cNvSpPr/>
          <p:nvPr/>
        </p:nvSpPr>
        <p:spPr>
          <a:xfrm>
            <a:off x="4023360" y="68580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PosFácil</a:t>
            </a:r>
            <a:endParaRPr lang="en-US" sz="5800" dirty="0"/>
          </a:p>
        </p:txBody>
      </p:sp>
      <p:sp>
        <p:nvSpPr>
          <p:cNvPr id="12" name="Text 10"/>
          <p:cNvSpPr/>
          <p:nvPr/>
        </p:nvSpPr>
        <p:spPr>
          <a:xfrm>
            <a:off x="4023360" y="178308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caja registradora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sí entiende tu negocio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023360" y="3017520"/>
            <a:ext cx="1207008" cy="384048"/>
          </a:xfrm>
          <a:prstGeom prst="roundRect">
            <a:avLst>
              <a:gd name="adj" fmla="val 28571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023360" y="3017520"/>
            <a:ext cx="1207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Velocidad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21808" y="3017520"/>
            <a:ext cx="1207008" cy="384048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5321808" y="3017520"/>
            <a:ext cx="1207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Control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620256" y="3017520"/>
            <a:ext cx="1207008" cy="384048"/>
          </a:xfrm>
          <a:prstGeom prst="roundRect">
            <a:avLst>
              <a:gd name="adj" fmla="val 28571"/>
            </a:avLst>
          </a:prstGeom>
          <a:solidFill>
            <a:srgbClr val="1580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620256" y="3017520"/>
            <a:ext cx="1207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IA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918704" y="3017520"/>
            <a:ext cx="1207008" cy="384048"/>
          </a:xfrm>
          <a:prstGeom prst="roundRect">
            <a:avLst>
              <a:gd name="adj" fmla="val 28571"/>
            </a:avLst>
          </a:prstGeom>
          <a:solidFill>
            <a:srgbClr val="92400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7918704" y="3017520"/>
            <a:ext cx="1207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Nube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023360" y="35661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C6F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tiendas · Distribuidores · Comisionistas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023360" y="4297680"/>
            <a:ext cx="4754880" cy="502920"/>
          </a:xfrm>
          <a:prstGeom prst="rect">
            <a:avLst/>
          </a:prstGeom>
          <a:solidFill>
            <a:srgbClr val="1E1B4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023360" y="42976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Desarrollado por  NautilusTech  ·  nautilustech.app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0A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😰  El problema real de las tiendas en Colombia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822960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91440" cy="8229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48640" y="98755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"Uno nunca sabe bien cuánto vendió, los fiados se pierden y al final del mes no sabe si ganó o perdió."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93392"/>
            <a:ext cx="2606040" cy="1143000"/>
          </a:xfrm>
          <a:prstGeom prst="rect">
            <a:avLst/>
          </a:prstGeom>
          <a:solidFill>
            <a:srgbClr val="FEF2F2"/>
          </a:solidFill>
          <a:ln/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365760" y="1993392"/>
            <a:ext cx="2606040" cy="6400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65760" y="20848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📓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258775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Cuaderno de fiados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843784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pierden, se mojan, se olvidan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1993392"/>
            <a:ext cx="2606040" cy="1143000"/>
          </a:xfrm>
          <a:prstGeom prst="rect">
            <a:avLst/>
          </a:prstGeom>
          <a:solidFill>
            <a:srgbClr val="FEF2F2"/>
          </a:solidFill>
          <a:ln/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3200400" y="1993392"/>
            <a:ext cx="2606040" cy="6400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3200400" y="20848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🧮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291840" y="258775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Calculadora a mano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2843784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error y pierdes plata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35040" y="1993392"/>
            <a:ext cx="2606040" cy="1143000"/>
          </a:xfrm>
          <a:prstGeom prst="rect">
            <a:avLst/>
          </a:prstGeom>
          <a:solidFill>
            <a:srgbClr val="FEF2F2"/>
          </a:solidFill>
          <a:ln/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6035040" y="1993392"/>
            <a:ext cx="2606040" cy="6400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6035040" y="20848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126480" y="258775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control de stock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2843784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 agotados sin avisar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291840"/>
            <a:ext cx="2606040" cy="1143000"/>
          </a:xfrm>
          <a:prstGeom prst="rect">
            <a:avLst/>
          </a:prstGeom>
          <a:solidFill>
            <a:srgbClr val="FEF2F2"/>
          </a:solidFill>
          <a:ln/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2606040" cy="6400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365760" y="33832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📉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57200" y="388620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reportes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14223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sabes qué vende más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0" y="3291840"/>
            <a:ext cx="2606040" cy="1143000"/>
          </a:xfrm>
          <a:prstGeom prst="rect">
            <a:avLst/>
          </a:prstGeom>
          <a:solidFill>
            <a:srgbClr val="FEF2F2"/>
          </a:solidFill>
          <a:ln/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8" name="Shape 26"/>
          <p:cNvSpPr/>
          <p:nvPr/>
        </p:nvSpPr>
        <p:spPr>
          <a:xfrm>
            <a:off x="3200400" y="3291840"/>
            <a:ext cx="2606040" cy="6400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3200400" y="33832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👁️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3291840" y="388620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control de personal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91840" y="414223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hizo tu cajero?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35040" y="3291840"/>
            <a:ext cx="2606040" cy="1143000"/>
          </a:xfrm>
          <a:prstGeom prst="rect">
            <a:avLst/>
          </a:prstGeom>
          <a:solidFill>
            <a:srgbClr val="FEF2F2"/>
          </a:solidFill>
          <a:ln/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6035040" y="3291840"/>
            <a:ext cx="2606040" cy="6400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6035040" y="33832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⏰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126480" y="388620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perdido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26480" y="414223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Contar a mano cada día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nautilustech.app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¿Qué es PosFácil?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1005840"/>
            <a:ext cx="7315200" cy="1005840"/>
          </a:xfrm>
          <a:prstGeom prst="rect">
            <a:avLst/>
          </a:prstGeom>
          <a:solidFill>
            <a:srgbClr val="1E1B4B"/>
          </a:solidFill>
          <a:ln/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005840" y="100584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sistema de punto de venta en la nube que te permite cobrar, controlar el inventario, gestionar fiados y analizar tu negocio — desde cualquier celular, tablet o computador.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1920240" cy="2286000"/>
          </a:xfrm>
          <a:prstGeom prst="rect">
            <a:avLst/>
          </a:prstGeom>
          <a:solidFill>
            <a:srgbClr val="1A1740"/>
          </a:solidFill>
          <a:ln/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1920240" cy="64008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1005840" y="2487168"/>
            <a:ext cx="822960" cy="822960"/>
          </a:xfrm>
          <a:prstGeom prst="ellipse">
            <a:avLst/>
          </a:prstGeom>
          <a:solidFill>
            <a:srgbClr val="6D28D9">
              <a:alpha val="7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005840" y="248716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48640" y="340156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en la nube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81304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instalar nada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0" y="2331720"/>
            <a:ext cx="1920240" cy="2286000"/>
          </a:xfrm>
          <a:prstGeom prst="rect">
            <a:avLst/>
          </a:prstGeom>
          <a:solidFill>
            <a:srgbClr val="1A1740"/>
          </a:solidFill>
          <a:ln/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2560320" y="2331720"/>
            <a:ext cx="1920240" cy="64008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3108960" y="2487168"/>
            <a:ext cx="822960" cy="822960"/>
          </a:xfrm>
          <a:prstGeom prst="ellipse">
            <a:avLst/>
          </a:prstGeom>
          <a:solidFill>
            <a:srgbClr val="0E7490">
              <a:alpha val="7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108960" y="248716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651760" y="340156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Cualquier dispositivo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381304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Celular, tablet o PC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331720"/>
            <a:ext cx="1920240" cy="2286000"/>
          </a:xfrm>
          <a:prstGeom prst="rect">
            <a:avLst/>
          </a:prstGeom>
          <a:solidFill>
            <a:srgbClr val="1A1740"/>
          </a:solidFill>
          <a:ln/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4663440" y="2331720"/>
            <a:ext cx="1920240" cy="64008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5212080" y="2487168"/>
            <a:ext cx="822960" cy="822960"/>
          </a:xfrm>
          <a:prstGeom prst="ellipse">
            <a:avLst/>
          </a:prstGeom>
          <a:solidFill>
            <a:srgbClr val="15803D">
              <a:alpha val="7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5212080" y="248716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754880" y="340156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Fácil de usar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381304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necesidad de ser técnico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66560" y="2331720"/>
            <a:ext cx="1920240" cy="2286000"/>
          </a:xfrm>
          <a:prstGeom prst="rect">
            <a:avLst/>
          </a:prstGeom>
          <a:solidFill>
            <a:srgbClr val="1A1740"/>
          </a:solidFill>
          <a:ln/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6766560" y="2331720"/>
            <a:ext cx="1920240" cy="64008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7315200" y="2487168"/>
            <a:ext cx="822960" cy="822960"/>
          </a:xfrm>
          <a:prstGeom prst="ellipse">
            <a:avLst/>
          </a:prstGeom>
          <a:solidFill>
            <a:srgbClr val="92400E">
              <a:alpha val="7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7315200" y="248716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858000" y="340156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Seguro y confiable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0" y="381304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protegidos en Azure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C4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nautilustech.app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🧩  8 módulos que trabajan para ti todos los días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1920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1920240" cy="6400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868680" y="1124712"/>
            <a:ext cx="822960" cy="82296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68680" y="112471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🛒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93192" y="2011680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— Caja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" y="2340864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 en segundos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código de barras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987552"/>
            <a:ext cx="1920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468880" y="987552"/>
            <a:ext cx="1920240" cy="6400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3017520" y="1124712"/>
            <a:ext cx="822960" cy="82296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017520" y="112471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42032" y="2011680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42032" y="2340864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en tiempo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y alertas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17720" y="987552"/>
            <a:ext cx="1920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4617720" y="987552"/>
            <a:ext cx="1920240" cy="6400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5166360" y="1124712"/>
            <a:ext cx="822960" cy="822960"/>
          </a:xfrm>
          <a:prstGeom prst="ellipse">
            <a:avLst/>
          </a:prstGeom>
          <a:solidFill>
            <a:srgbClr val="22C55E">
              <a:alpha val="1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5166360" y="112471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🏷️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690872" y="2011680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90872" y="2340864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con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 de ganancia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66560" y="987552"/>
            <a:ext cx="1920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6766560" y="987552"/>
            <a:ext cx="1920240" cy="640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7315200" y="1124712"/>
            <a:ext cx="822960" cy="82296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7315200" y="112471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💳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839712" y="2011680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Fiados/Créditos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39712" y="2340864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 te debe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cuánto y desde cuándo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2926080"/>
            <a:ext cx="1920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320040" y="2926080"/>
            <a:ext cx="1920240" cy="6400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868680" y="3063240"/>
            <a:ext cx="822960" cy="82296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868680" y="3063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393192" y="3950208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93192" y="4279392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del día,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y mes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468880" y="2926080"/>
            <a:ext cx="1920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2468880" y="2926080"/>
            <a:ext cx="1920240" cy="6400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6" name="Shape 34"/>
          <p:cNvSpPr/>
          <p:nvPr/>
        </p:nvSpPr>
        <p:spPr>
          <a:xfrm>
            <a:off x="3017520" y="3063240"/>
            <a:ext cx="822960" cy="82296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3017520" y="3063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2542032" y="3950208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IA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542032" y="4279392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Pregúntale 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lo que quieras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17720" y="2926080"/>
            <a:ext cx="1920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1" name="Shape 39"/>
          <p:cNvSpPr/>
          <p:nvPr/>
        </p:nvSpPr>
        <p:spPr>
          <a:xfrm>
            <a:off x="4617720" y="2926080"/>
            <a:ext cx="1920240" cy="6400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2" name="Shape 40"/>
          <p:cNvSpPr/>
          <p:nvPr/>
        </p:nvSpPr>
        <p:spPr>
          <a:xfrm>
            <a:off x="5166360" y="3063240"/>
            <a:ext cx="822960" cy="822960"/>
          </a:xfrm>
          <a:prstGeom prst="ellipse">
            <a:avLst/>
          </a:prstGeom>
          <a:solidFill>
            <a:srgbClr val="DC2626">
              <a:alpha val="1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5166360" y="3063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4690872" y="3950208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690872" y="4279392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hizo cada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empleado y cuándo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766560" y="2926080"/>
            <a:ext cx="1920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7" name="Shape 45"/>
          <p:cNvSpPr/>
          <p:nvPr/>
        </p:nvSpPr>
        <p:spPr>
          <a:xfrm>
            <a:off x="6766560" y="2926080"/>
            <a:ext cx="1920240" cy="6400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8" name="Shape 46"/>
          <p:cNvSpPr/>
          <p:nvPr/>
        </p:nvSpPr>
        <p:spPr>
          <a:xfrm>
            <a:off x="7315200" y="3063240"/>
            <a:ext cx="822960" cy="822960"/>
          </a:xfrm>
          <a:prstGeom prst="ellipse">
            <a:avLst/>
          </a:prstGeom>
          <a:solidFill>
            <a:srgbClr val="22C55E">
              <a:alpha val="1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9" name="Text 47"/>
          <p:cNvSpPr/>
          <p:nvPr/>
        </p:nvSpPr>
        <p:spPr>
          <a:xfrm>
            <a:off x="7315200" y="3063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50" name="Text 48"/>
          <p:cNvSpPr/>
          <p:nvPr/>
        </p:nvSpPr>
        <p:spPr>
          <a:xfrm>
            <a:off x="6839712" y="3950208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839712" y="4279392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y accesos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empleado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nautilustech.app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6D28D9">
              <a:alpha val="2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6400800" y="3200400"/>
            <a:ext cx="3657600" cy="3657600"/>
          </a:xfrm>
          <a:prstGeom prst="ellipse">
            <a:avLst/>
          </a:prstGeom>
          <a:solidFill>
            <a:srgbClr val="06B6D4">
              <a:alpha val="1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 que cambia cuando usas PosFácil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 reales para tu tienda desde el primer día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874520" cy="2194560"/>
          </a:xfrm>
          <a:prstGeom prst="rect">
            <a:avLst/>
          </a:prstGeom>
          <a:solidFill>
            <a:srgbClr val="1A1740"/>
          </a:solidFill>
          <a:ln/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874520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3×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02920" y="2487168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rápido cobrando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926080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caja tradicional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42032" y="1417320"/>
            <a:ext cx="1874520" cy="2194560"/>
          </a:xfrm>
          <a:prstGeom prst="rect">
            <a:avLst/>
          </a:prstGeom>
          <a:solidFill>
            <a:srgbClr val="1A1740"/>
          </a:solidFill>
          <a:ln/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2542032" y="1417320"/>
            <a:ext cx="1874520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2542032" y="150876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2587752" y="2487168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Fiados perdidos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87752" y="2926080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digital completo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26864" y="1417320"/>
            <a:ext cx="1874520" cy="2194560"/>
          </a:xfrm>
          <a:prstGeom prst="rect">
            <a:avLst/>
          </a:prstGeom>
          <a:solidFill>
            <a:srgbClr val="1A1740"/>
          </a:solidFill>
          <a:ln/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4626864" y="1417320"/>
            <a:ext cx="1874520" cy="7315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626864" y="150876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4672584" y="2487168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del inventario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72584" y="2926080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Actualización automática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11696" y="1417320"/>
            <a:ext cx="1874520" cy="2194560"/>
          </a:xfrm>
          <a:prstGeom prst="rect">
            <a:avLst/>
          </a:prstGeom>
          <a:solidFill>
            <a:srgbClr val="1A1740"/>
          </a:solidFill>
          <a:ln/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6711696" y="1417320"/>
            <a:ext cx="187452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6711696" y="150876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24/7</a:t>
            </a:r>
            <a:endParaRPr lang="en-US" sz="5200" dirty="0"/>
          </a:p>
        </p:txBody>
      </p:sp>
      <p:sp>
        <p:nvSpPr>
          <p:cNvPr id="24" name="Text 22"/>
          <p:cNvSpPr/>
          <p:nvPr/>
        </p:nvSpPr>
        <p:spPr>
          <a:xfrm>
            <a:off x="6757416" y="2487168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negocio en tu bolsillo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57416" y="2926080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cualquier dispositivo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858768"/>
            <a:ext cx="8229600" cy="8686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457200" y="3858768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«Deja de adivinar. Empieza a saber.»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0A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PosFácil vs. Cuaderno / Excel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926080" y="960120"/>
            <a:ext cx="2834640" cy="47548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926080" y="96012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Sin PosFácil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0" y="960120"/>
            <a:ext cx="2834640" cy="475488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5943600" y="96012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Con PosFácil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2423160" cy="50292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926080" y="1572768"/>
            <a:ext cx="2834640" cy="50292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017520" y="157276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Contar a mano, cuadernos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0" y="1572768"/>
            <a:ext cx="2834640" cy="502920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035040" y="157276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Actualización automática en cada venta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139696"/>
            <a:ext cx="242316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57200" y="2139696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Cobros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926080" y="2139696"/>
            <a:ext cx="2834640" cy="50292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017520" y="213969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Calculadora, precios de memoria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0" y="2139696"/>
            <a:ext cx="2834640" cy="502920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6035040" y="213969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 rápida, precio exacto siempre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706624"/>
            <a:ext cx="2423160" cy="50292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57200" y="2706624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Fiados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926080" y="2706624"/>
            <a:ext cx="2834640" cy="50292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3017520" y="270662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Libreta manual, se pierde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43600" y="2706624"/>
            <a:ext cx="2834640" cy="502920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6035040" y="270662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digital con topes y abonos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3273552"/>
            <a:ext cx="242316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457200" y="327355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Ganancias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926080" y="3273552"/>
            <a:ext cx="2834640" cy="50292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3017520" y="32735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Cuentas al cierre del día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43600" y="3273552"/>
            <a:ext cx="2834640" cy="502920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6035040" y="32735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en tiempo real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3840480"/>
            <a:ext cx="2423160" cy="50292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457200" y="38404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empleados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926080" y="3840480"/>
            <a:ext cx="2834640" cy="50292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3017520" y="3840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Imposible saber qué hicieron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943600" y="3840480"/>
            <a:ext cx="2834640" cy="502920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6035040" y="3840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 completa de cada acción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65760" y="4407408"/>
            <a:ext cx="242316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457200" y="440740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2926080" y="4407408"/>
            <a:ext cx="2834640" cy="50292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3017520" y="440740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Intuición sin datos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943600" y="4407408"/>
            <a:ext cx="2834640" cy="502920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6035040" y="440740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+ datos reales para decidir mejor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nautilustech.app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1828800"/>
            <a:ext cx="3200400" cy="320040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7C3AED">
              <a:alpha val="2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 tienda en tu bolsillo 📱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Accede desde cualquier dispositivo — sin instalar nada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444752"/>
            <a:ext cx="2240280" cy="2926080"/>
          </a:xfrm>
          <a:prstGeom prst="rect">
            <a:avLst/>
          </a:prstGeom>
          <a:solidFill>
            <a:srgbClr val="1A1740"/>
          </a:solidFill>
          <a:ln/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822960" y="1444752"/>
            <a:ext cx="2240280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1371600" y="1627632"/>
            <a:ext cx="1097280" cy="1097280"/>
          </a:xfrm>
          <a:prstGeom prst="ellipse">
            <a:avLst/>
          </a:prstGeom>
          <a:solidFill>
            <a:srgbClr val="7C3AED">
              <a:alpha val="2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1371600" y="1627632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💻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914400" y="2816352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Computador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255264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mostrador de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tienda o en casa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3785616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C6F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/ Mac / Linux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29000" y="1444752"/>
            <a:ext cx="2240280" cy="2926080"/>
          </a:xfrm>
          <a:prstGeom prst="rect">
            <a:avLst/>
          </a:prstGeom>
          <a:solidFill>
            <a:srgbClr val="1A1740"/>
          </a:solidFill>
          <a:ln/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3429000" y="1444752"/>
            <a:ext cx="2240280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3977640" y="1627632"/>
            <a:ext cx="1097280" cy="1097280"/>
          </a:xfrm>
          <a:prstGeom prst="ellipse">
            <a:avLst/>
          </a:prstGeom>
          <a:solidFill>
            <a:srgbClr val="06B6D4">
              <a:alpha val="2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977640" y="1627632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📱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3520440" y="2816352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Celular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20440" y="3255264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 ventas y stock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donde estés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520440" y="3785616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C6F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/ iPhone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35040" y="1444752"/>
            <a:ext cx="2240280" cy="2926080"/>
          </a:xfrm>
          <a:prstGeom prst="rect">
            <a:avLst/>
          </a:prstGeom>
          <a:solidFill>
            <a:srgbClr val="1A1740"/>
          </a:solidFill>
          <a:ln/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6035040" y="1444752"/>
            <a:ext cx="2240280" cy="7315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6583680" y="1627632"/>
            <a:ext cx="1097280" cy="1097280"/>
          </a:xfrm>
          <a:prstGeom prst="ellipse">
            <a:avLst/>
          </a:prstGeom>
          <a:solidFill>
            <a:srgbClr val="22C55E">
              <a:alpha val="2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6583680" y="1627632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📟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6126480" y="2816352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26480" y="3255264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 grande para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cajero o el vendedor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26480" y="3785616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C6F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iPad / Android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C4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nautilustech.app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0A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Reportes que sí entiendes — sin fórmulas, sin Excel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12064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de la semana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4251960"/>
            <a:ext cx="475488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685800" y="2971800"/>
            <a:ext cx="457200" cy="12801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67512" y="4261104"/>
            <a:ext cx="4937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44168" y="2606040"/>
            <a:ext cx="457200" cy="1645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325880" y="4261104"/>
            <a:ext cx="4937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02536" y="3154680"/>
            <a:ext cx="457200" cy="10972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1984248" y="4261104"/>
            <a:ext cx="4937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Mié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60904" y="2240280"/>
            <a:ext cx="457200" cy="2011680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2642616" y="4261104"/>
            <a:ext cx="4937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19272" y="1691640"/>
            <a:ext cx="457200" cy="2560320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300984" y="4261104"/>
            <a:ext cx="4937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977640" y="1051560"/>
            <a:ext cx="457200" cy="32004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3959352" y="4261104"/>
            <a:ext cx="4937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Sáb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36008" y="2423160"/>
            <a:ext cx="457200" cy="18288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617720" y="4261104"/>
            <a:ext cx="4937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0" y="960120"/>
            <a:ext cx="3108960" cy="3657600"/>
          </a:xfrm>
          <a:prstGeom prst="rect">
            <a:avLst/>
          </a:prstGeom>
          <a:solidFill>
            <a:srgbClr val="EDE9FE"/>
          </a:solidFill>
          <a:ln/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5760720" y="105156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0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puedes ver?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60720" y="157276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 Ventas del día, semana y mes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60720" y="19933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Top 5 productos más vendidos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60720" y="241401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Horas pico de mayor venta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60720" y="2834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 Ventas por forma de pago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60720" y="325526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Alertas de stock mínimo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60720" y="367588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Rendimiento por cajero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60720" y="409651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💵  Cartera de fiados pendiente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nautilustech.app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4572000" cy="457200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-457200" y="2743200"/>
            <a:ext cx="3200400" cy="320040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🤖  Inteligencia Artificial incluida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Hazle preguntas a tu sistema como si fuera tu contador personal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371600"/>
            <a:ext cx="4114800" cy="457200"/>
          </a:xfrm>
          <a:prstGeom prst="roundRect">
            <a:avLst>
              <a:gd name="adj" fmla="val 24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617720" y="13716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¿Cuánto vendí esta semana?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929384"/>
            <a:ext cx="4114800" cy="457200"/>
          </a:xfrm>
          <a:prstGeom prst="roundRect">
            <a:avLst>
              <a:gd name="adj" fmla="val 24000"/>
            </a:avLst>
          </a:prstGeom>
          <a:solidFill>
            <a:srgbClr val="1A17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502920" y="192938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Vendiste $1.240.000 esta semana. Un 18% más que la semana pasada. 🚀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0" y="2487168"/>
            <a:ext cx="4114800" cy="457200"/>
          </a:xfrm>
          <a:prstGeom prst="roundRect">
            <a:avLst>
              <a:gd name="adj" fmla="val 24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617720" y="248716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¿Qué producto se está agotando?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044952"/>
            <a:ext cx="4114800" cy="457200"/>
          </a:xfrm>
          <a:prstGeom prst="roundRect">
            <a:avLst>
              <a:gd name="adj" fmla="val 24000"/>
            </a:avLst>
          </a:prstGeom>
          <a:solidFill>
            <a:srgbClr val="1A17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502920" y="304495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Arroz Diana 500g tiene solo 3 unidades. Te recomiendo pedir más hoy.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0" y="3602736"/>
            <a:ext cx="4114800" cy="457200"/>
          </a:xfrm>
          <a:prstGeom prst="roundRect">
            <a:avLst>
              <a:gd name="adj" fmla="val 24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617720" y="360273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¿Quién me debe más plata?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4114800" cy="457200"/>
          </a:xfrm>
          <a:prstGeom prst="roundRect">
            <a:avLst>
              <a:gd name="adj" fmla="val 24000"/>
            </a:avLst>
          </a:prstGeom>
          <a:solidFill>
            <a:srgbClr val="1A17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502920" y="41605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José Martínez tiene $85.000 de fiado desde hace 12 días.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20040"/>
          </a:xfrm>
          <a:prstGeom prst="rect">
            <a:avLst/>
          </a:prstGeom>
          <a:solidFill>
            <a:srgbClr val="1A17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57200" y="4645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C6F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Disponible en el plan Premium  ·  Tecnología OpenAI + datos reales de tu tienda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0A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☁️  Software como Servicio — Sin letra menuda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3566160" cy="3657600"/>
          </a:xfrm>
          <a:prstGeom prst="rect">
            <a:avLst/>
          </a:prstGeom>
          <a:solidFill>
            <a:srgbClr val="BAE6FD"/>
          </a:solidFill>
          <a:ln/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3566160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731520" y="111556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🏪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181051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59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Básico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759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Punto de Venta (POS)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7249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759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Inventario básico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07238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759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Gestión de fiados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41985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759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Usuarios (hasta 3)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7673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759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Reportes básicos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114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Chat con IA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37760" y="1005840"/>
            <a:ext cx="3566160" cy="3657600"/>
          </a:xfrm>
          <a:prstGeom prst="rect">
            <a:avLst/>
          </a:prstGeom>
          <a:solidFill>
            <a:srgbClr val="EDE9FE"/>
          </a:solidFill>
          <a:ln/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4937760" y="1005840"/>
            <a:ext cx="3566160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937760" y="111556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🚀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029200" y="181051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1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Premium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12064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Todo lo del plan Básico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0" y="27249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Inventario avanzado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307238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Reportes completos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0" y="341985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Usuarios ilimitados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20640" y="37673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Auditoría completa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20640" y="4114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Chat con IA incluido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solidFill>
            <a:srgbClr val="0F0A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En la nube   ·   🔄 Siempre actualizado   ·   🔒 Datos seguros   ·   📱 Desde cualquier dispositivo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7C3AED">
              <a:alpha val="2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6858000" y="2286000"/>
            <a:ext cx="4114800" cy="411480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3657600" y="3657600"/>
            <a:ext cx="2743200" cy="2743200"/>
          </a:xfrm>
          <a:prstGeom prst="ellipse">
            <a:avLst/>
          </a:prstGeom>
          <a:solidFill>
            <a:srgbClr val="22C55E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657600" y="228600"/>
            <a:ext cx="1828800" cy="1828800"/>
          </a:xfrm>
          <a:prstGeom prst="roundRect">
            <a:avLst>
              <a:gd name="adj" fmla="val 12500"/>
            </a:avLst>
          </a:prstGeom>
          <a:solidFill>
            <a:srgbClr val="7C3AED"/>
          </a:solidFill>
          <a:ln/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3657600" y="2286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0" dirty="0">
                <a:solidFill>
                  <a:srgbClr val="000000"/>
                </a:solidFill>
              </a:rPr>
              <a:t>🛒</a:t>
            </a:r>
            <a:endParaRPr lang="en-US" sz="5500" dirty="0"/>
          </a:p>
        </p:txBody>
      </p:sp>
      <p:sp>
        <p:nvSpPr>
          <p:cNvPr id="7" name="Text 5"/>
          <p:cNvSpPr/>
          <p:nvPr/>
        </p:nvSpPr>
        <p:spPr>
          <a:xfrm>
            <a:off x="457200" y="221284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 tienda merece más.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29077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 tú también.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2560320" y="3749040"/>
            <a:ext cx="4023360" cy="685800"/>
          </a:xfrm>
          <a:prstGeom prst="rect">
            <a:avLst/>
          </a:prstGeom>
          <a:solidFill>
            <a:srgbClr val="7C3AED"/>
          </a:solidFill>
          <a:ln/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2560320" y="374904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🚀  Empieza hoy con PosFácil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C6F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Desarrollado por  NautilusTech  ·  nautilustech.app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756</Words>
  <Application>Microsoft Office PowerPoint</Application>
  <PresentationFormat>Presentación en pantalla (16:9)</PresentationFormat>
  <Paragraphs>196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Arial Black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PosFácil — Presentación Comercial</dc:title>
  <dc:subject>PptxGenJS Presentation</dc:subject>
  <dc:creator>NautilusTech</dc:creator>
  <cp:lastModifiedBy>Juan Arango</cp:lastModifiedBy>
  <cp:revision>1</cp:revision>
  <dcterms:created xsi:type="dcterms:W3CDTF">2026-05-25T02:19:22Z</dcterms:created>
  <dcterms:modified xsi:type="dcterms:W3CDTF">2026-05-25T02:21:31Z</dcterms:modified>
</cp:coreProperties>
</file>